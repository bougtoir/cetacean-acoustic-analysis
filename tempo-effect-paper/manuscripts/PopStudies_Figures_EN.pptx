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1: Five model variants versus observed population, six representative countries, 1970–2023</a:t>
            </a:r>
          </a:p>
        </p:txBody>
      </p:sp>
      <p:pic>
        <p:nvPicPr>
          <p:cNvPr id="3" name="Picture 2" descr="fig1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845" y="914400"/>
            <a:ext cx="8554005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/>
            </a:pPr>
            <a:r>
              <a:t>Observed = black solid (UN WPP 2024); Tempo-responsive = blue; Tempo-invariant = orange dashed; Tempo-adjusted (TFR*) = green dash-dot; Fixed-parameter (1970) = red dotted.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2: Five-model validation across all 40 countries</a:t>
            </a:r>
          </a:p>
        </p:txBody>
      </p:sp>
      <p:pic>
        <p:nvPicPr>
          <p:cNvPr id="3" name="Picture 2" descr="fig2_all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381" y="914400"/>
            <a:ext cx="3712932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/>
            </a:pPr>
            <a:r>
              <a:t>Observed = black; Responsive = blue; Invariant = orange; Adjusted (TFR*) = green; Fixed = red. MAPE shown in upper-right corner. Countries sorted alphabetically.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3: Fixed-parameter model MAPE (%) by country and base year</a:t>
            </a:r>
          </a:p>
        </p:txBody>
      </p:sp>
      <p:pic>
        <p:nvPicPr>
          <p:cNvPr id="3" name="Picture 2" descr="fig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55" y="914400"/>
            <a:ext cx="2897785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/>
            </a:pPr>
            <a:r>
              <a:t>Greener cells indicate better fit; redder cells indicate poorer fit. Scale capped at 30%.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4: Four-model comparison — MAPE and final population ratio</a:t>
            </a:r>
          </a:p>
        </p:txBody>
      </p:sp>
      <p:pic>
        <p:nvPicPr>
          <p:cNvPr id="3" name="Picture 2" descr="fig4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665" y="914400"/>
            <a:ext cx="8182365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/>
            </a:pPr>
            <a:r>
              <a:t>Left: MAPE by country for fixed (red), invariant (orange), responsive (blue), adjusted TFR* (green). Right: final ratio (model/observed, 2023). TFR* achieves best overall 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5: Model bias analysis using base year 2000</a:t>
            </a:r>
          </a:p>
        </p:txBody>
      </p:sp>
      <p:pic>
        <p:nvPicPr>
          <p:cNvPr id="3" name="Picture 2" descr="fig5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914400"/>
            <a:ext cx="9144000" cy="3029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/>
            </a:pPr>
            <a:r>
              <a:t>(a) Fit versus TFR; (b) fit versus life expectancy; (c) bias versus MAC. No systematic relationship observed.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