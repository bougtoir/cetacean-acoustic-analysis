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80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鯨類音響コミュニケーションにおける</a:t>
            </a:r>
            <a:br/>
            <a:r>
              <a:t>エンコーディング構造の定量的解析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96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CDMA的符号分割仮説およびうなり周波数仮説の検証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検証仮説の概念図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900000"/>
            <a:ext cx="5760000" cy="4320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仮説1: CDMA的符号分割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512000"/>
            <a:ext cx="1440000" cy="54000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発信者A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0000" y="1512000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682B4"/>
                </a:solidFill>
              </a:defRPr>
            </a:pPr>
            <a:r>
              <a:t>固有スペクトル符号 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80000" y="1692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2232000"/>
            <a:ext cx="1440000" cy="5400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発信者B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0000" y="2232000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E8B57"/>
                </a:solidFill>
              </a:defRPr>
            </a:pPr>
            <a:r>
              <a:t>固有スペクトル符号 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80000" y="2412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0000" y="2952000"/>
            <a:ext cx="1440000" cy="540000"/>
          </a:xfrm>
          <a:prstGeom prst="roundRect">
            <a:avLst/>
          </a:prstGeom>
          <a:solidFill>
            <a:srgbClr val="D2691E"/>
          </a:solidFill>
          <a:ln w="127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発信者C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0000" y="2952000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2691E"/>
                </a:solidFill>
              </a:defRPr>
            </a:pPr>
            <a:r>
              <a:t>固有スペクトル符号 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0000" y="3132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40000" y="1512000"/>
            <a:ext cx="720000" cy="1980000"/>
          </a:xfrm>
          <a:prstGeom prst="roundRect">
            <a:avLst/>
          </a:prstGeom>
          <a:solidFill>
            <a:srgbClr val="E6E6FA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00080"/>
                </a:solidFill>
              </a:defRPr>
            </a:pPr>
            <a:r>
              <a:t>海中</a:t>
            </a:r>
            <a:br/>
            <a:r>
              <a:t>伝搬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0000" y="2340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0000" y="1980000"/>
            <a:ext cx="720000" cy="900000"/>
          </a:xfrm>
          <a:prstGeom prst="roundRect">
            <a:avLst/>
          </a:prstGeom>
          <a:solidFill>
            <a:srgbClr val="006699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受信者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" y="3780000"/>
            <a:ext cx="5760000" cy="7200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8B57"/>
                </a:solidFill>
              </a:defRPr>
            </a:pPr>
            <a:r>
              <a:t>検証結果: 種内相関 &gt; 種間相関</a:t>
            </a:r>
            <a:br/>
            <a:r>
              <a:t>(p = 3.37 × 10⁻³) → 支持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000" y="900000"/>
            <a:ext cx="5760000" cy="432000"/>
          </a:xfrm>
          <a:prstGeom prst="round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仮説2: うなり周波数効果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1620000"/>
            <a:ext cx="1800000" cy="54000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信号 f₁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000" y="2340000"/>
            <a:ext cx="1800000" cy="540000"/>
          </a:xfrm>
          <a:prstGeom prst="roundRect">
            <a:avLst/>
          </a:prstGeom>
          <a:solidFill>
            <a:srgbClr val="B22222"/>
          </a:solidFill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信号 f₂</a:t>
            </a:r>
            <a:br/>
            <a:r>
              <a:t>(時間差 Δt)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280000" y="1800000"/>
            <a:ext cx="540000" cy="144000"/>
          </a:xfrm>
          <a:prstGeom prst="rightArrow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280000" y="2520000"/>
            <a:ext cx="540000" cy="144000"/>
          </a:xfrm>
          <a:prstGeom prst="rightArrow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20000" y="1728000"/>
            <a:ext cx="1620000" cy="10800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C5500"/>
                </a:solidFill>
              </a:defRPr>
            </a:pPr>
            <a:r>
              <a:t>干渉</a:t>
            </a:r>
            <a:br/>
            <a:r>
              <a:t>(非線形相互作用)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540000" y="2808000"/>
            <a:ext cx="180000" cy="432000"/>
          </a:xfrm>
          <a:prstGeom prst="downArrow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0000" y="3240000"/>
            <a:ext cx="1620000" cy="540000"/>
          </a:xfrm>
          <a:prstGeom prst="roundRect">
            <a:avLst/>
          </a:prstGeom>
          <a:solidFill>
            <a:srgbClr val="800080"/>
          </a:solidFill>
          <a:ln w="127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うなり成分</a:t>
            </a:r>
            <a:br/>
            <a:r>
              <a:t>f₁ - f₂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000" y="3780000"/>
            <a:ext cx="5760000" cy="720000"/>
          </a:xfrm>
          <a:prstGeom prst="roundRect">
            <a:avLst/>
          </a:prstGeom>
          <a:solidFill>
            <a:srgbClr val="FFFFE6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2691E"/>
                </a:solidFill>
              </a:defRPr>
            </a:pPr>
            <a:r>
              <a:t>検証結果: 全種でバイコヒーレンス &gt; 0</a:t>
            </a:r>
            <a:br/>
            <a:r>
              <a:t>マッコウクジラが最大 → 部分的支持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※ すべての要素は編集可能です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解析対象6種の音響特性概要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900000"/>
            <a:ext cx="252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種名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0000" y="900000"/>
            <a:ext cx="306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発声タイプ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000" y="900000"/>
            <a:ext cx="216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重心周波数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0" y="900000"/>
            <a:ext cx="216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エントロピー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40000"/>
            <a:ext cx="180000" cy="540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0000" y="1440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682B4"/>
                </a:solidFill>
              </a:defRPr>
            </a:pPr>
            <a:r>
              <a:t>マッコウクジラ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0000" y="1440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クリック列 (コーダ)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000" y="144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2,323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0000" y="144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12000" y="1512000"/>
            <a:ext cx="1337400" cy="396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8000" y="1440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</a:defRPr>
            </a:pPr>
            <a:r>
              <a:t>7.43 bits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232000"/>
            <a:ext cx="180000" cy="54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0000" y="2232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8B57"/>
                </a:solidFill>
              </a:defRPr>
            </a:pPr>
            <a:r>
              <a:t>ザトウクジラ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0000" y="2232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歌 (Zipf分布)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000" y="2232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593 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0000" y="2232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2000" y="2304000"/>
            <a:ext cx="804600" cy="396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88000" y="2232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E8B57"/>
                </a:solidFill>
              </a:defRPr>
            </a:pPr>
            <a:r>
              <a:t>4.47 bits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024000"/>
            <a:ext cx="180000" cy="540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0000" y="3024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2691E"/>
                </a:solidFill>
              </a:defRPr>
            </a:pPr>
            <a:r>
              <a:t>シャチ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0000" y="3024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コール・ホイッスル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0000" y="3024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1,788 Hz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0000" y="3024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12000" y="3096000"/>
            <a:ext cx="1197000" cy="396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8000" y="3024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2691E"/>
                </a:solidFill>
              </a:defRPr>
            </a:pPr>
            <a:r>
              <a:t>6.65 bits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3816000"/>
            <a:ext cx="180000" cy="540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0000" y="3816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8080"/>
                </a:solidFill>
              </a:defRPr>
            </a:pPr>
            <a:r>
              <a:t>ナガスクジラ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0000" y="3816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超低周波パルス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000" y="3816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37 Hz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0000" y="3816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2000" y="3888000"/>
            <a:ext cx="410399" cy="396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8000" y="3816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2.28 bits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4608000"/>
            <a:ext cx="180000" cy="540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0000" y="4608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00080"/>
                </a:solidFill>
              </a:defRPr>
            </a:pPr>
            <a:r>
              <a:t>バンドウイルカ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0000" y="4608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ホイッスル・クリック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0000" y="4608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3,791 Hz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0000" y="4608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12000" y="4680000"/>
            <a:ext cx="1038599" cy="396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8000" y="4608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00080"/>
                </a:solidFill>
              </a:defRPr>
            </a:pPr>
            <a:r>
              <a:t>5.77 bits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5400000"/>
            <a:ext cx="180000" cy="540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0000" y="5400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22222"/>
                </a:solidFill>
              </a:defRPr>
            </a:pPr>
            <a:r>
              <a:t>シロイルカ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60000" y="5400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多様な発声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0000" y="540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1,218 Hz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0000" y="540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12000" y="5472000"/>
            <a:ext cx="1110600" cy="396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88000" y="5400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22222"/>
                </a:solidFill>
              </a:defRPr>
            </a:pPr>
            <a:r>
              <a:t>6.17 bits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※ すべての要素は編集可能です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解析パイプライン概要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944000" cy="540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データ取得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Watkins WMMS</a:t>
            </a:r>
            <a:br/>
            <a:r>
              <a:t>1,357録音, 32種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8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0" y="1260000"/>
            <a:ext cx="1944000" cy="540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前処理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音声デコード</a:t>
            </a:r>
            <a:br/>
            <a:r>
              <a:t>モノラル変換</a:t>
            </a:r>
            <a:br/>
            <a:r>
              <a:t>リサンプリング (16kHz)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2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20000" y="1260000"/>
            <a:ext cx="1944000" cy="54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特徴抽出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スペクトログラム</a:t>
            </a:r>
            <a:br/>
            <a:r>
              <a:t>ICI検出</a:t>
            </a:r>
            <a:br/>
            <a:r>
              <a:t>バイスペクトル</a:t>
            </a:r>
            <a:br/>
            <a:r>
              <a:t>エントロピー</a:t>
            </a:r>
            <a:br/>
            <a:r>
              <a:t>時間構造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6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6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0" y="1260000"/>
            <a:ext cx="1944000" cy="540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比較解析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種間比較</a:t>
            </a:r>
            <a:br/>
            <a:r>
              <a:t>CDMA直交性検定</a:t>
            </a:r>
            <a:br/>
            <a:r>
              <a:t>Mann-Whitney U検定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0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0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00000" y="1260000"/>
            <a:ext cx="1944000" cy="540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論文レポート</a:t>
            </a:r>
            <a:br/>
            <a:r>
              <a:t>可視化 (58図)</a:t>
            </a:r>
            <a:br/>
            <a:r>
              <a:t>統計的検証</a:t>
            </a:r>
          </a:p>
        </p:txBody>
      </p:sp>
      <p:sp>
        <p:nvSpPr>
          <p:cNvPr id="23" name="Oval 22"/>
          <p:cNvSpPr/>
          <p:nvPr/>
        </p:nvSpPr>
        <p:spPr>
          <a:xfrm>
            <a:off x="133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367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601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835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069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※ すべての要素は編集可能です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7つの解析手法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6000" y="720000"/>
            <a:ext cx="360000" cy="3600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1116000"/>
            <a:ext cx="2700000" cy="432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スペクトログラム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STFT → 周波数構造</a:t>
            </a:r>
            <a:br/>
            <a:r>
              <a:t>スペクトル重心・帯域幅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66000" y="720000"/>
            <a:ext cx="360000" cy="3600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6000" y="1116000"/>
            <a:ext cx="2700000" cy="432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ICI解析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クリック間隔分布</a:t>
            </a:r>
            <a:br/>
            <a:r>
              <a:t>個体識別符号の検出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46000" y="720000"/>
            <a:ext cx="360000" cy="360000"/>
          </a:xfrm>
          <a:prstGeom prst="ellipse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6000" y="1116000"/>
            <a:ext cx="2700000" cy="432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バイスペクトル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非線形位相結合</a:t>
            </a:r>
            <a:br/>
            <a:r>
              <a:t>うなり効果の検出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26000" y="720000"/>
            <a:ext cx="360000" cy="36000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56000" y="1116000"/>
            <a:ext cx="2700000" cy="432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エントロピー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Shannon情報量</a:t>
            </a:r>
            <a:br/>
            <a:r>
              <a:t>Zipf則適合度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20000" y="306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90000" y="2880000"/>
            <a:ext cx="360000" cy="3600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0000" y="3276000"/>
            <a:ext cx="2700000" cy="432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時間構造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000" y="378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自己/相互相関</a:t>
            </a:r>
            <a:br/>
            <a:r>
              <a:t>スペクトル平坦度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0000" y="306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70000" y="2880000"/>
            <a:ext cx="360000" cy="36000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0" y="3276000"/>
            <a:ext cx="2700000" cy="432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種間比較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000" y="378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箱ひげ図</a:t>
            </a:r>
            <a:br/>
            <a:r>
              <a:t>特徴量の種間差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0000" y="306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50000" y="2880000"/>
            <a:ext cx="360000" cy="36000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0000" y="3276000"/>
            <a:ext cx="2700000" cy="43200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CDMA直交性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000" y="378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スペクトル相関行列</a:t>
            </a:r>
            <a:br/>
            <a:r>
              <a:t>Mann-Whitney U検定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※ すべての要素は編集可能です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スペクトル特徴の種間比較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900000"/>
          <a:ext cx="1080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スペクトル重心 (Hz)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帯域幅 (Hz)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支配周波数 (Hz)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エントロピー (bits)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バイコヒーレンス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マッコウクジラ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ザトウクジラ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593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4.47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0.000285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シャチ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ナガスクジラ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2.28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0.000124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バンドウイルカ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シロイルカ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1,218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1,610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6.17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0.000387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300000"/>
            <a:ext cx="115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4B4B4"/>
                </a:solidFill>
              </a:defRPr>
            </a:pPr>
            <a:r>
              <a:t>表1. 6種の海獣の音響スペクトル特徴の比較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CDMA的直交性検定結果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900000"/>
          <a:ext cx="1080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5400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値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種内スペクトル相関 (平均)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0.3991 ± 0.2940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種間スペクトル相関 (平均)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0.2970 ± 0.2755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Mann-Whitney U 統計量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13,700.0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p値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3.37 × 10⁻³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帰無仮説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棄却 (α = 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結論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種固有スペクトル符号が存在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300000"/>
            <a:ext cx="115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4B4B4"/>
                </a:solidFill>
              </a:defRPr>
            </a:pPr>
            <a:r>
              <a:t>表2. CDMA的直交性検定の結果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クリック間隔 (ICI) 解析結果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900000"/>
          <a:ext cx="1080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中央ICI範囲 (ms)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クリック数範囲/録音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マッコウクジラ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21.2–117.1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18–290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シャチ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2.6–129.4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10–41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バンドウイルカ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9.7–11.5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300000"/>
            <a:ext cx="115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4B4B4"/>
                </a:solidFill>
              </a:defRPr>
            </a:pPr>
            <a:r>
              <a:t>表3. クリック間隔 (ICI) 解析の要約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1. スペクトログラム解析結果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スペクトログラム: マッコウクジラ</a:t>
            </a:r>
          </a:p>
        </p:txBody>
      </p:sp>
      <p:pic>
        <p:nvPicPr>
          <p:cNvPr id="4" name="Picture 3" descr="spectrogram_Sperm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3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マッコウクジラのスペクトログラムと周波数構造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スペクトログラム: ザトウクジラ</a:t>
            </a:r>
          </a:p>
        </p:txBody>
      </p:sp>
      <p:pic>
        <p:nvPicPr>
          <p:cNvPr id="4" name="Picture 3" descr="spectrogram_Hump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3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ザトウクジラのスペクトログラムと周波数構造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スペクトログラム: シャチ</a:t>
            </a:r>
          </a:p>
        </p:txBody>
      </p:sp>
      <p:pic>
        <p:nvPicPr>
          <p:cNvPr id="4" name="Picture 3" descr="spectrogram_Killer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5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シャチのスペクトログラムと周波数構造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スペクトログラム: ナガスクジラ</a:t>
            </a:r>
          </a:p>
        </p:txBody>
      </p:sp>
      <p:pic>
        <p:nvPicPr>
          <p:cNvPr id="4" name="Picture 3" descr="spectrogram_Fin_Fin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0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ナガスクジラのスペクトログラムと周波数構造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スペクトログラム: バンドウイルカ</a:t>
            </a:r>
          </a:p>
        </p:txBody>
      </p:sp>
      <p:pic>
        <p:nvPicPr>
          <p:cNvPr id="4" name="Picture 3" descr="spectrogram_Bottlenose_Dolphin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5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バンドウイルカのスペクトログラムと周波数構造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スペクトログラム: シロイルカ</a:t>
            </a:r>
          </a:p>
        </p:txBody>
      </p:sp>
      <p:pic>
        <p:nvPicPr>
          <p:cNvPr id="4" name="Picture 3" descr="spectrogram_Beluga_White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5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シロイルカのスペクトログラムと周波数構造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2. クリック間隔 (ICI) 解析結果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ICI分布: マッコウクジラ</a:t>
            </a:r>
          </a:p>
        </p:txBody>
      </p:sp>
      <p:pic>
        <p:nvPicPr>
          <p:cNvPr id="4" name="Picture 3" descr="ici_Sperm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マッコウクジラのクリック間隔分布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ICI分布: シャチ</a:t>
            </a:r>
          </a:p>
        </p:txBody>
      </p:sp>
      <p:pic>
        <p:nvPicPr>
          <p:cNvPr id="4" name="Picture 3" descr="ici_Killer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シャチのクリック間隔分布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ICI分布: バンドウイルカ</a:t>
            </a:r>
          </a:p>
        </p:txBody>
      </p:sp>
      <p:pic>
        <p:nvPicPr>
          <p:cNvPr id="4" name="Picture 3" descr="ici_Bottlenose_Dolphin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バンドウイルカのクリック間隔分布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3. バイスペクトル解析結果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バイスペクトル: マッコウクジラ</a:t>
            </a:r>
          </a:p>
        </p:txBody>
      </p:sp>
      <p:pic>
        <p:nvPicPr>
          <p:cNvPr id="4" name="Picture 3" descr="bispectrum_Sperm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マッコウクジラのバイコヒーレンスマップ（非線形結合）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バイスペクトル: ザトウクジラ</a:t>
            </a:r>
          </a:p>
        </p:txBody>
      </p:sp>
      <p:pic>
        <p:nvPicPr>
          <p:cNvPr id="4" name="Picture 3" descr="bispectrum_Hump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ザトウクジラのバイコヒーレンスマップ（非線形結合）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バイスペクトル: シャチ</a:t>
            </a:r>
          </a:p>
        </p:txBody>
      </p:sp>
      <p:pic>
        <p:nvPicPr>
          <p:cNvPr id="4" name="Picture 3" descr="bispectrum_Killer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シャチのバイコヒーレンスマップ（非線形結合）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バイスペクトル: ナガスクジラ</a:t>
            </a:r>
          </a:p>
        </p:txBody>
      </p:sp>
      <p:pic>
        <p:nvPicPr>
          <p:cNvPr id="4" name="Picture 3" descr="bispectrum_Fin_Fin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ナガスクジラのバイコヒーレンスマップ（非線形結合）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バイスペクトル: バンドウイルカ</a:t>
            </a:r>
          </a:p>
        </p:txBody>
      </p:sp>
      <p:pic>
        <p:nvPicPr>
          <p:cNvPr id="4" name="Picture 3" descr="bispectrum_Bottlenose_Dolphin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0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バンドウイルカのバイコヒーレンスマップ（非線形結合）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バイスペクトル: シロイルカ</a:t>
            </a:r>
          </a:p>
        </p:txBody>
      </p:sp>
      <p:pic>
        <p:nvPicPr>
          <p:cNvPr id="4" name="Picture 3" descr="bispectrum_Beluga_White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シロイルカのバイコヒーレンスマップ（非線形結合）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4. 情報エントロピー解析結果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エントロピーとZipf分布: マッコウクジラ</a:t>
            </a:r>
          </a:p>
        </p:txBody>
      </p:sp>
      <p:pic>
        <p:nvPicPr>
          <p:cNvPr id="4" name="Picture 3" descr="entropy_Sperm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マッコウクジラの情報エントロピーおよびZipf則適合度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エントロピーとZipf分布: ザトウクジラ</a:t>
            </a:r>
          </a:p>
        </p:txBody>
      </p:sp>
      <p:pic>
        <p:nvPicPr>
          <p:cNvPr id="4" name="Picture 3" descr="entropy_Hump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ザトウクジラの情報エントロピーおよびZipf則適合度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エントロピーとZipf分布: シャチ</a:t>
            </a:r>
          </a:p>
        </p:txBody>
      </p:sp>
      <p:pic>
        <p:nvPicPr>
          <p:cNvPr id="4" name="Picture 3" descr="entropy_Killer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シャチの情報エントロピーおよびZipf則適合度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エントロピーとZipf分布: ナガスクジラ</a:t>
            </a:r>
          </a:p>
        </p:txBody>
      </p:sp>
      <p:pic>
        <p:nvPicPr>
          <p:cNvPr id="4" name="Picture 3" descr="entropy_Fin_Fin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ナガスクジラの情報エントロピーおよびZipf則適合度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エントロピーとZipf分布: バンドウイルカ</a:t>
            </a:r>
          </a:p>
        </p:txBody>
      </p:sp>
      <p:pic>
        <p:nvPicPr>
          <p:cNvPr id="4" name="Picture 3" descr="entropy_Bottlenose_Dolphin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バンドウイルカの情報エントロピーおよびZipf則適合度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エントロピーとZipf分布: シロイルカ</a:t>
            </a:r>
          </a:p>
        </p:txBody>
      </p:sp>
      <p:pic>
        <p:nvPicPr>
          <p:cNvPr id="4" name="Picture 3" descr="entropy_Beluga_White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シロイルカの情報エントロピーおよびZipf則適合度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5. 時間構造解析結果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時間構造: マッコウクジラ</a:t>
            </a:r>
          </a:p>
        </p:txBody>
      </p:sp>
      <p:pic>
        <p:nvPicPr>
          <p:cNvPr id="4" name="Picture 3" descr="temporal_Sperm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0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マッコウクジラの時間構造解析（自己相関、変調スペクトル等）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時間構造: ザトウクジラ</a:t>
            </a:r>
          </a:p>
        </p:txBody>
      </p:sp>
      <p:pic>
        <p:nvPicPr>
          <p:cNvPr id="4" name="Picture 3" descr="temporal_Hump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0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ザトウクジラの時間構造解析（自己相関、変調スペクトル等）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時間構造: シャチ</a:t>
            </a:r>
          </a:p>
        </p:txBody>
      </p:sp>
      <p:pic>
        <p:nvPicPr>
          <p:cNvPr id="4" name="Picture 3" descr="temporal_Killer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0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シャチの時間構造解析（自己相関、変調スペクトル等）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時間構造: ナガスクジラ</a:t>
            </a:r>
          </a:p>
        </p:txBody>
      </p:sp>
      <p:pic>
        <p:nvPicPr>
          <p:cNvPr id="4" name="Picture 3" descr="temporal_Fin_Finback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0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ナガスクジラの時間構造解析（自己相関、変調スペクトル等）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時間構造: バンドウイルカ</a:t>
            </a:r>
          </a:p>
        </p:txBody>
      </p:sp>
      <p:pic>
        <p:nvPicPr>
          <p:cNvPr id="4" name="Picture 3" descr="temporal_Bottlenose_Dolphin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0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バンドウイルカの時間構造解析（自己相関、変調スペクトル等）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時間構造: シロイルカ</a:t>
            </a:r>
          </a:p>
        </p:txBody>
      </p:sp>
      <p:pic>
        <p:nvPicPr>
          <p:cNvPr id="4" name="Picture 3" descr="temporal_Beluga_White_Whal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0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シロイルカの時間構造解析（自己相関、変調スペクトル等）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6. 種間比較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種間音響特徴比較</a:t>
            </a:r>
          </a:p>
        </p:txBody>
      </p:sp>
      <p:pic>
        <p:nvPicPr>
          <p:cNvPr id="4" name="Picture 3" descr="cross_species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8015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6種の音響特徴の箱ひげ図比較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7. CDMA的直交性解析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CDMA的直交性: スペクトル相関行列</a:t>
            </a:r>
          </a:p>
        </p:txBody>
      </p:sp>
      <p:pic>
        <p:nvPicPr>
          <p:cNvPr id="4" name="Picture 3" descr="cdma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4912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図. 種内vs種間スペクトル相関の比較（Mann-Whitney U検定, p=3.37 × 10⁻³）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結論と今後の展望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07999"/>
            <a:ext cx="2700000" cy="46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種固有スペクトル符号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6種は周波数特性で</a:t>
            </a:r>
            <a:br/>
            <a:r>
              <a:t>明確に区別可能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000" y="2627999"/>
            <a:ext cx="162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8000" y="1007999"/>
            <a:ext cx="2700000" cy="46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CDMA的直交性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種内相関 &gt; 種間相関</a:t>
            </a:r>
            <a:br/>
            <a:r>
              <a:t>p = 3.37 × 10⁻³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8000" y="2627999"/>
            <a:ext cx="162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48000" y="1007999"/>
            <a:ext cx="2700000" cy="46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非線形結合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全種でバイコヒーレンス</a:t>
            </a:r>
            <a:br/>
            <a:r>
              <a:t>&gt; 0を検出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627999"/>
            <a:ext cx="1620000" cy="360000"/>
          </a:xfrm>
          <a:prstGeom prst="round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部分的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28000" y="1007999"/>
            <a:ext cx="2700000" cy="468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情報構造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エントロピー 2.28〜7.43</a:t>
            </a:r>
            <a:br/>
            <a:r>
              <a:t> bits の種間差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8000" y="2627999"/>
            <a:ext cx="162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支持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00" y="3420000"/>
            <a:ext cx="11520000" cy="4320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今後の課題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複数ハイドロフォン同期録音による伝搬解析</a:t>
            </a:r>
          </a:p>
        </p:txBody>
      </p:sp>
      <p:sp>
        <p:nvSpPr>
          <p:cNvPr id="22" name="Oval 21"/>
          <p:cNvSpPr/>
          <p:nvPr/>
        </p:nvSpPr>
        <p:spPr>
          <a:xfrm>
            <a:off x="136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個体レベルの符号分離</a:t>
            </a:r>
          </a:p>
        </p:txBody>
      </p:sp>
      <p:sp>
        <p:nvSpPr>
          <p:cNvPr id="24" name="Oval 23"/>
          <p:cNvSpPr/>
          <p:nvPr/>
        </p:nvSpPr>
        <p:spPr>
          <a:xfrm>
            <a:off x="424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時系列的な符号変化の追跡</a:t>
            </a:r>
          </a:p>
        </p:txBody>
      </p:sp>
      <p:sp>
        <p:nvSpPr>
          <p:cNvPr id="26" name="Oval 25"/>
          <p:cNvSpPr/>
          <p:nvPr/>
        </p:nvSpPr>
        <p:spPr>
          <a:xfrm>
            <a:off x="712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深層学習による特徴抽出</a:t>
            </a:r>
          </a:p>
        </p:txBody>
      </p:sp>
      <p:sp>
        <p:nvSpPr>
          <p:cNvPr id="28" name="Oval 27"/>
          <p:cNvSpPr/>
          <p:nvPr/>
        </p:nvSpPr>
        <p:spPr>
          <a:xfrm>
            <a:off x="1000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※ すべての要素は編集可能です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