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80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Quantitative Analysis of Encoding Structures</a:t>
            </a:r>
            <a:br/>
            <a:r>
              <a:t>in Cetacean Acoustic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96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Verification of CDMA-like Code Division and Beat Frequency Hypotheses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Conceptual Diagram of Hypotheses Under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900000"/>
            <a:ext cx="5760000" cy="4320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Hypothesis 1: CDMA-like Code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512000"/>
            <a:ext cx="1440000" cy="5400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Sender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0000" y="151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682B4"/>
                </a:solidFill>
              </a:defRPr>
            </a:pPr>
            <a:r>
              <a:t>Unique spectral code 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80000" y="169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2232000"/>
            <a:ext cx="1440000" cy="54000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Sender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0000" y="223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E8B57"/>
                </a:solidFill>
              </a:defRPr>
            </a:pPr>
            <a:r>
              <a:t>Unique spectral code 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80000" y="241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000" y="2952000"/>
            <a:ext cx="1440000" cy="540000"/>
          </a:xfrm>
          <a:prstGeom prst="roundRect">
            <a:avLst/>
          </a:prstGeom>
          <a:solidFill>
            <a:srgbClr val="D2691E"/>
          </a:solidFill>
          <a:ln w="127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Sender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0000" y="2952000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D2691E"/>
                </a:solidFill>
              </a:defRPr>
            </a:pPr>
            <a:r>
              <a:t>Unique spectral code 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0000" y="3132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40000" y="1512000"/>
            <a:ext cx="720000" cy="1980000"/>
          </a:xfrm>
          <a:prstGeom prst="roundRect">
            <a:avLst/>
          </a:prstGeom>
          <a:solidFill>
            <a:srgbClr val="E6E6FA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00080"/>
                </a:solidFill>
              </a:defRPr>
            </a:pPr>
            <a:r>
              <a:t>Ocean</a:t>
            </a:r>
            <a:br/>
            <a:r>
              <a:t>Channel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00" y="2340000"/>
            <a:ext cx="360000" cy="144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0000" y="1980000"/>
            <a:ext cx="720000" cy="900000"/>
          </a:xfrm>
          <a:prstGeom prst="roundRect">
            <a:avLst/>
          </a:prstGeom>
          <a:solidFill>
            <a:srgbClr val="006699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Receiver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3780000"/>
            <a:ext cx="5760000" cy="72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8B57"/>
                </a:solidFill>
              </a:defRPr>
            </a:pPr>
            <a:r>
              <a:t>Result: Within &gt; Between correlation</a:t>
            </a:r>
            <a:br/>
            <a:r>
              <a:t>(p = 3.37 × 10⁻³) → Supported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900000"/>
            <a:ext cx="5760000" cy="432000"/>
          </a:xfrm>
          <a:prstGeom prst="round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Hypothesis 2: Beat Frequency Effect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1620000"/>
            <a:ext cx="1800000" cy="54000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Signal f₁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0" y="2340000"/>
            <a:ext cx="1800000" cy="540000"/>
          </a:xfrm>
          <a:prstGeom prst="roundRect">
            <a:avLst/>
          </a:prstGeom>
          <a:solidFill>
            <a:srgbClr val="B22222"/>
          </a:solidFill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Signal f₂</a:t>
            </a:r>
            <a:br/>
            <a:r>
              <a:t>(time delay Δt)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80000" y="1800000"/>
            <a:ext cx="540000" cy="144000"/>
          </a:xfrm>
          <a:prstGeom prst="rightArrow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280000" y="2520000"/>
            <a:ext cx="540000" cy="144000"/>
          </a:xfrm>
          <a:prstGeom prst="rightArrow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20000" y="1728000"/>
            <a:ext cx="1620000" cy="10800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C5500"/>
                </a:solidFill>
              </a:defRPr>
            </a:pPr>
            <a:r>
              <a:t>Interference</a:t>
            </a:r>
            <a:br/>
            <a:r>
              <a:t>(nonlinear interaction)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540000" y="2808000"/>
            <a:ext cx="180000" cy="432000"/>
          </a:xfrm>
          <a:prstGeom prst="downArrow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0000" y="3240000"/>
            <a:ext cx="1620000" cy="540000"/>
          </a:xfrm>
          <a:prstGeom prst="roundRect">
            <a:avLst/>
          </a:prstGeom>
          <a:solidFill>
            <a:srgbClr val="800080"/>
          </a:solidFill>
          <a:ln w="127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Beat component</a:t>
            </a:r>
            <a:br/>
            <a:r>
              <a:t>f₁ - f₂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000" y="3780000"/>
            <a:ext cx="5760000" cy="720000"/>
          </a:xfrm>
          <a:prstGeom prst="roundRect">
            <a:avLst/>
          </a:prstGeom>
          <a:solidFill>
            <a:srgbClr val="FFFFE6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2691E"/>
                </a:solidFill>
              </a:defRPr>
            </a:pPr>
            <a:r>
              <a:t>Result: Bicoherence &gt; 0 in all species</a:t>
            </a:r>
            <a:br/>
            <a:r>
              <a:t>Sperm whale highest → Partial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Note: All elements are editable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Acoustic Characteristics of 6 Target Species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900000"/>
            <a:ext cx="252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Species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0000" y="900000"/>
            <a:ext cx="30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Vocalization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900000"/>
            <a:ext cx="21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Centroid Freq.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0" y="900000"/>
            <a:ext cx="2160000" cy="43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Entropy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40000"/>
            <a:ext cx="180000" cy="540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682B4"/>
                </a:solidFill>
              </a:defRPr>
            </a:pPr>
            <a:r>
              <a:t>Sperm whale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0000" y="1440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Click trains (codas)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144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2,323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0000" y="144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12000" y="1512000"/>
            <a:ext cx="1337400" cy="396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8000" y="1440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</a:defRPr>
            </a:pPr>
            <a:r>
              <a:t>7.43 bits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232000"/>
            <a:ext cx="180000" cy="54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0000" y="2232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8B57"/>
                </a:solidFill>
              </a:defRPr>
            </a:pPr>
            <a:r>
              <a:t>Humpback whale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0000" y="2232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Songs (Zipf distribution)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2232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593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000" y="2232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2000" y="2304000"/>
            <a:ext cx="804600" cy="396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88000" y="2232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E8B57"/>
                </a:solidFill>
              </a:defRPr>
            </a:pPr>
            <a:r>
              <a:t>4.47 bits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024000"/>
            <a:ext cx="180000" cy="540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0000" y="3024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2691E"/>
                </a:solidFill>
              </a:defRPr>
            </a:pPr>
            <a:r>
              <a:t>Killer whale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0000" y="3024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Calls &amp; whistles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0000" y="3024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1,788 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0000" y="3024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12000" y="3096000"/>
            <a:ext cx="1197000" cy="396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8000" y="3024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2691E"/>
                </a:solidFill>
              </a:defRPr>
            </a:pPr>
            <a:r>
              <a:t>6.65 bits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3816000"/>
            <a:ext cx="180000" cy="540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8080"/>
                </a:solidFill>
              </a:defRPr>
            </a:pPr>
            <a:r>
              <a:t>Fin whale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0000" y="3816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Infrasonic pulses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000" y="3816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37 Hz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0000" y="3816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2000" y="3888000"/>
            <a:ext cx="410399" cy="396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8000" y="3816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8080"/>
                </a:solidFill>
              </a:defRPr>
            </a:pPr>
            <a:r>
              <a:t>2.28 bits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4608000"/>
            <a:ext cx="180000" cy="540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0000" y="4608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00080"/>
                </a:solidFill>
              </a:defRPr>
            </a:pPr>
            <a:r>
              <a:t>Bottlenose dolphin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0000" y="4608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Whistles &amp; clicks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0000" y="4608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3,791 Hz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0000" y="4608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12000" y="4680000"/>
            <a:ext cx="1038599" cy="396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8000" y="4608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00080"/>
                </a:solidFill>
              </a:defRPr>
            </a:pPr>
            <a:r>
              <a:t>5.77 bits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5400000"/>
            <a:ext cx="180000" cy="540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0000" y="5400000"/>
            <a:ext cx="234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22222"/>
                </a:solidFill>
              </a:defRPr>
            </a:pPr>
            <a:r>
              <a:t>Beluga whale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60000" y="5400000"/>
            <a:ext cx="30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Diverse vocalizations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0000" y="540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1,218 Hz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0000" y="5400000"/>
            <a:ext cx="216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12000" y="5472000"/>
            <a:ext cx="1110600" cy="396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8000" y="5400000"/>
            <a:ext cx="61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22222"/>
                </a:solidFill>
              </a:defRPr>
            </a:pPr>
            <a:r>
              <a:t>6.17 bits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Note: All elements are editable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944000" cy="540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Watkins WMMS</a:t>
            </a:r>
            <a:br/>
            <a:r>
              <a:t>1,357 recordings, 32 species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0" y="1260000"/>
            <a:ext cx="1944000" cy="540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Audio decode</a:t>
            </a:r>
            <a:br/>
            <a:r>
              <a:t>Stereo→Mono</a:t>
            </a:r>
            <a:br/>
            <a:r>
              <a:t>Resample (16kHz)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2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0000" y="1260000"/>
            <a:ext cx="1944000" cy="54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Spectrogram</a:t>
            </a:r>
            <a:br/>
            <a:r>
              <a:t>ICI detection</a:t>
            </a:r>
            <a:br/>
            <a:r>
              <a:t>Bispectrum</a:t>
            </a:r>
            <a:br/>
            <a:r>
              <a:t>Entropy</a:t>
            </a:r>
            <a:br/>
            <a:r>
              <a:t>Temporal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6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6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0" y="1260000"/>
            <a:ext cx="1944000" cy="540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Comparative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Cross-species</a:t>
            </a:r>
            <a:br/>
            <a:r>
              <a:t>CDMA orthogonality</a:t>
            </a:r>
            <a:br/>
            <a:r>
              <a:t>Mann-Whitney U test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04000" y="2340000"/>
            <a:ext cx="396000" cy="18000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00000" y="1260000"/>
            <a:ext cx="1944000" cy="23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0000" y="1260000"/>
            <a:ext cx="1944000" cy="540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8000" y="1908000"/>
            <a:ext cx="172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Paper report</a:t>
            </a:r>
            <a:br/>
            <a:r>
              <a:t>Visualizations (58 figs)</a:t>
            </a:r>
            <a:br/>
            <a:r>
              <a:t>Statistical validation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33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367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601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835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0692000" y="900000"/>
            <a:ext cx="360000" cy="3600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Note: All elements are editable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Seven Analytical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6000" y="720000"/>
            <a:ext cx="360000" cy="36000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2700000" cy="432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Spectrogram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STFT → frequency structure</a:t>
            </a:r>
            <a:br/>
            <a:r>
              <a:t>centroid, bandwidth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66000" y="720000"/>
            <a:ext cx="360000" cy="3600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6000" y="1116000"/>
            <a:ext cx="2700000" cy="432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ICI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Click interval distribution</a:t>
            </a:r>
            <a:br/>
            <a:r>
              <a:t>identity code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46000" y="720000"/>
            <a:ext cx="360000" cy="360000"/>
          </a:xfrm>
          <a:prstGeom prst="ellipse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000" y="1116000"/>
            <a:ext cx="2700000" cy="432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Bispectrum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Nonlinear phase coupling</a:t>
            </a:r>
            <a:br/>
            <a:r>
              <a:t>beat effect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6000" y="90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26000" y="720000"/>
            <a:ext cx="360000" cy="360000"/>
          </a:xfrm>
          <a:prstGeom prst="ellipse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6000" y="1116000"/>
            <a:ext cx="2700000" cy="432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4000" y="162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Shannon information</a:t>
            </a:r>
            <a:br/>
            <a:r>
              <a:t>Zipf's law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2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90000" y="2880000"/>
            <a:ext cx="360000" cy="3600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0000" y="3276000"/>
            <a:ext cx="2700000" cy="432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Temporal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Auto/cross-correlation</a:t>
            </a:r>
            <a:br/>
            <a:r>
              <a:t>spectral flatness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70000" y="2880000"/>
            <a:ext cx="360000" cy="36000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3276000"/>
            <a:ext cx="2700000" cy="432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Cross-species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Box plots</a:t>
            </a:r>
            <a:br/>
            <a:r>
              <a:t>interspecific differences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0000" y="3060000"/>
            <a:ext cx="2700000" cy="19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50000" y="2880000"/>
            <a:ext cx="360000" cy="360000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0000" y="3276000"/>
            <a:ext cx="2700000" cy="43200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CDMA Orthogonality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000" y="3780000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Spectral correlation matrix</a:t>
            </a:r>
            <a:br/>
            <a:r>
              <a:t>Mann-Whitney U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Note: All elements are editable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Cross-Species Spectral 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Species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Centroid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Bandwidth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Dominant (Hz)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Entropy (bits)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Bicoherence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Sperm Whale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Humpback Whale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593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4.47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0.000285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Killer Whale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 Whale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0.000124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Bottlenose Dolphin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Beluga Whale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1,218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6.17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0.000387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Table 1. Comparison of acoustic spectral features across six marine mammal species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CDMA-like Orthogonality Test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54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Within-species correlation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0.3991 ± 0.2940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Between-species correlation (mean)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0.2970 ± 0.2755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Mann-Whitney U statistic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13,700.0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3.37 × 10⁻³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Null hypothesis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Rejected (α = 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Species-specific spectral codes exist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Table 2. CDMA-like orthogonality test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Inter-Click Interval (ICI) Analysis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108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Species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Median ICI range (ms)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No. clicks/recording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Sperm Whale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21.2–117.1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18–290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Killer Whale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2.6–129.4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10–41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Bottlenose Dolphin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9.7–11.5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300000"/>
            <a:ext cx="115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B4B4B4"/>
                </a:solidFill>
              </a:defRPr>
            </a:pPr>
            <a:r>
              <a:t>Table 3. Summary of inter-click interval (ICI)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1. Spectrogram Analysis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Sperm Whale</a:t>
            </a:r>
          </a:p>
        </p:txBody>
      </p:sp>
      <p:pic>
        <p:nvPicPr>
          <p:cNvPr id="4" name="Picture 3" descr="spectrogram_Sperm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7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Sperm Whale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Humpback Whale</a:t>
            </a:r>
          </a:p>
        </p:txBody>
      </p:sp>
      <p:pic>
        <p:nvPicPr>
          <p:cNvPr id="4" name="Picture 3" descr="spectrogram_Hump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7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Humpback Whale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Killer Whale</a:t>
            </a:r>
          </a:p>
        </p:txBody>
      </p:sp>
      <p:pic>
        <p:nvPicPr>
          <p:cNvPr id="4" name="Picture 3" descr="spectrogram_Killer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6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Killer Whale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Fin Whale</a:t>
            </a:r>
          </a:p>
        </p:txBody>
      </p:sp>
      <p:pic>
        <p:nvPicPr>
          <p:cNvPr id="4" name="Picture 3" descr="spectrogram_Fin_Fin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55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Fin Whale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Bottlenose Dolphin</a:t>
            </a:r>
          </a:p>
        </p:txBody>
      </p:sp>
      <p:pic>
        <p:nvPicPr>
          <p:cNvPr id="4" name="Picture 3" descr="spectrogram_Bottlenose_Dolphi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6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Bottlenose Dolphin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Spectrogram: Beluga Whale</a:t>
            </a:r>
          </a:p>
        </p:txBody>
      </p:sp>
      <p:pic>
        <p:nvPicPr>
          <p:cNvPr id="4" name="Picture 3" descr="spectrogram_Beluga_White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6060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Spectrogram and frequency structure of Beluga Whale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2. Inter-Click Interval (ICI)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 Distribution: Sperm Whale</a:t>
            </a:r>
          </a:p>
        </p:txBody>
      </p:sp>
      <p:pic>
        <p:nvPicPr>
          <p:cNvPr id="4" name="Picture 3" descr="ici_Sperm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Inter-click interval distribution of Sperm Whale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 Distribution: Killer Whale</a:t>
            </a:r>
          </a:p>
        </p:txBody>
      </p:sp>
      <p:pic>
        <p:nvPicPr>
          <p:cNvPr id="4" name="Picture 3" descr="ici_Killer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Inter-click interval distribution of Killer Whale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ICI Distribution: Bottlenose Dolphin</a:t>
            </a:r>
          </a:p>
        </p:txBody>
      </p:sp>
      <p:pic>
        <p:nvPicPr>
          <p:cNvPr id="4" name="Picture 3" descr="ici_Bottlenose_Dolphi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Inter-click interval distribution of Bottlenose Dolphin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3. Bispectral Analysis Results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Sperm Whale</a:t>
            </a:r>
          </a:p>
        </p:txBody>
      </p:sp>
      <p:pic>
        <p:nvPicPr>
          <p:cNvPr id="4" name="Picture 3" descr="bispectrum_Sperm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Sperm Whale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Humpback Whale</a:t>
            </a:r>
          </a:p>
        </p:txBody>
      </p:sp>
      <p:pic>
        <p:nvPicPr>
          <p:cNvPr id="4" name="Picture 3" descr="bispectrum_Hump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Humpback Whale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Killer Whale</a:t>
            </a:r>
          </a:p>
        </p:txBody>
      </p:sp>
      <p:pic>
        <p:nvPicPr>
          <p:cNvPr id="4" name="Picture 3" descr="bispectrum_Killer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Killer Whale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Fin Whale</a:t>
            </a:r>
          </a:p>
        </p:txBody>
      </p:sp>
      <p:pic>
        <p:nvPicPr>
          <p:cNvPr id="4" name="Picture 3" descr="bispectrum_Fin_Fin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Fin Whale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Bottlenose Dolphin</a:t>
            </a:r>
          </a:p>
        </p:txBody>
      </p:sp>
      <p:pic>
        <p:nvPicPr>
          <p:cNvPr id="4" name="Picture 3" descr="bispectrum_Bottlenose_Dolphi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0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Bottlenose Dolphin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Bispectrum: Beluga Whale</a:t>
            </a:r>
          </a:p>
        </p:txBody>
      </p:sp>
      <p:pic>
        <p:nvPicPr>
          <p:cNvPr id="4" name="Picture 3" descr="bispectrum_Beluga_White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929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Bicoherence map (nonlinear coupling) of Beluga Whale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4. Information Entropy Results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Sperm Whale</a:t>
            </a:r>
          </a:p>
        </p:txBody>
      </p:sp>
      <p:pic>
        <p:nvPicPr>
          <p:cNvPr id="4" name="Picture 3" descr="entropy_Sperm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Sperm Whale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Humpback Whale</a:t>
            </a:r>
          </a:p>
        </p:txBody>
      </p:sp>
      <p:pic>
        <p:nvPicPr>
          <p:cNvPr id="4" name="Picture 3" descr="entropy_Hump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Humpback Whale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Killer Whale</a:t>
            </a:r>
          </a:p>
        </p:txBody>
      </p:sp>
      <p:pic>
        <p:nvPicPr>
          <p:cNvPr id="4" name="Picture 3" descr="entropy_Killer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Killer Whale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Fin Whale</a:t>
            </a:r>
          </a:p>
        </p:txBody>
      </p:sp>
      <p:pic>
        <p:nvPicPr>
          <p:cNvPr id="4" name="Picture 3" descr="entropy_Fin_Fin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Fin Whale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Bottlenose Dolphin</a:t>
            </a:r>
          </a:p>
        </p:txBody>
      </p:sp>
      <p:pic>
        <p:nvPicPr>
          <p:cNvPr id="4" name="Picture 3" descr="entropy_Bottlenose_Dolphi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Bottlenose Dolphin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Entropy &amp; Zipf Distribution: Beluga Whale</a:t>
            </a:r>
          </a:p>
        </p:txBody>
      </p:sp>
      <p:pic>
        <p:nvPicPr>
          <p:cNvPr id="4" name="Picture 3" descr="entropy_Beluga_White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4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Information entropy and Zipf's law fit of Beluga Whale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5. Temporal Structure Results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Sperm Whale</a:t>
            </a:r>
          </a:p>
        </p:txBody>
      </p:sp>
      <p:pic>
        <p:nvPicPr>
          <p:cNvPr id="4" name="Picture 3" descr="temporal_Sperm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Sperm Whale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Humpback Whale</a:t>
            </a:r>
          </a:p>
        </p:txBody>
      </p:sp>
      <p:pic>
        <p:nvPicPr>
          <p:cNvPr id="4" name="Picture 3" descr="temporal_Hump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Humpback Whale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Killer Whale</a:t>
            </a:r>
          </a:p>
        </p:txBody>
      </p:sp>
      <p:pic>
        <p:nvPicPr>
          <p:cNvPr id="4" name="Picture 3" descr="temporal_Killer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Killer Whale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Fin Whale</a:t>
            </a:r>
          </a:p>
        </p:txBody>
      </p:sp>
      <p:pic>
        <p:nvPicPr>
          <p:cNvPr id="4" name="Picture 3" descr="temporal_Fin_Finback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Fin Whale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Bottlenose Dolphin</a:t>
            </a:r>
          </a:p>
        </p:txBody>
      </p:sp>
      <p:pic>
        <p:nvPicPr>
          <p:cNvPr id="4" name="Picture 3" descr="temporal_Bottlenose_Dolphi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Bottlenose Dolphin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Temporal Structure: Beluga Whale</a:t>
            </a:r>
          </a:p>
        </p:txBody>
      </p:sp>
      <p:pic>
        <p:nvPicPr>
          <p:cNvPr id="4" name="Picture 3" descr="temporal_Beluga_White_Wha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765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Temporal structure analysis of Beluga Whale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6. Cross-Species Comparison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Cross-Species Acoustic Feature Comparison</a:t>
            </a:r>
          </a:p>
        </p:txBody>
      </p:sp>
      <p:pic>
        <p:nvPicPr>
          <p:cNvPr id="4" name="Picture 3" descr="cross_spec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8015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Box-plot comparison of acoustic features across six species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44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216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7. CDMA-like Orthogonality Analysis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CDMA Orthogonality: Spectral Correlation Matrix</a:t>
            </a:r>
          </a:p>
        </p:txBody>
      </p:sp>
      <p:pic>
        <p:nvPicPr>
          <p:cNvPr id="4" name="Picture 3" descr="cdma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27999"/>
            <a:ext cx="10800000" cy="4914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30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B4B4B4"/>
                </a:solidFill>
              </a:defRPr>
            </a:pPr>
            <a:r>
              <a:t>Figure. Within vs between species spectral correlation (Mann-Whitney U, p=3.37 × 10⁻³)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Conclusions and 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07999"/>
            <a:ext cx="2700000" cy="46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Species-specific 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6 species clearly</a:t>
            </a:r>
            <a:br/>
            <a:r>
              <a:t>distinguishable by</a:t>
            </a:r>
            <a:br/>
            <a:r>
              <a:t>frequency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8000" y="1007999"/>
            <a:ext cx="2700000" cy="46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CDMA orthogonality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Within &gt; Between</a:t>
            </a:r>
            <a:br/>
            <a:r>
              <a:t>correlation</a:t>
            </a:r>
            <a:br/>
            <a:r>
              <a:t>p = 3.37 × 10⁻³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8000" y="1007999"/>
            <a:ext cx="2700000" cy="46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Nonlinear coupling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Bicoherence &gt; 0</a:t>
            </a:r>
            <a:br/>
            <a:r>
              <a:t>detected in all species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627999"/>
            <a:ext cx="1620000" cy="360000"/>
          </a:xfrm>
          <a:prstGeom prst="round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8000" y="1007999"/>
            <a:ext cx="2700000" cy="216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8000" y="1007999"/>
            <a:ext cx="2700000" cy="468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Information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6000" y="1547999"/>
            <a:ext cx="248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Entropy 2.28-7.43 bits</a:t>
            </a:r>
            <a:br/>
            <a:r>
              <a:t>interspecific variation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8000" y="2627999"/>
            <a:ext cx="162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00" y="3420000"/>
            <a:ext cx="11520000" cy="4320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Multi-hydrophone synchronized recordings</a:t>
            </a:r>
          </a:p>
        </p:txBody>
      </p:sp>
      <p:sp>
        <p:nvSpPr>
          <p:cNvPr id="22" name="Oval 21"/>
          <p:cNvSpPr/>
          <p:nvPr/>
        </p:nvSpPr>
        <p:spPr>
          <a:xfrm>
            <a:off x="136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Individual-level code separation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424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Longitudinal code variation tracking</a:t>
            </a:r>
          </a:p>
        </p:txBody>
      </p:sp>
      <p:sp>
        <p:nvSpPr>
          <p:cNvPr id="26" name="Oval 25"/>
          <p:cNvSpPr/>
          <p:nvPr/>
        </p:nvSpPr>
        <p:spPr>
          <a:xfrm>
            <a:off x="712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000" y="4068000"/>
            <a:ext cx="2700000" cy="9000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699"/>
                </a:solidFill>
              </a:defRPr>
            </a:pPr>
            <a:r>
              <a:t>Deep learning feature extraction</a:t>
            </a:r>
          </a:p>
        </p:txBody>
      </p:sp>
      <p:sp>
        <p:nvSpPr>
          <p:cNvPr id="28" name="Oval 27"/>
          <p:cNvSpPr/>
          <p:nvPr/>
        </p:nvSpPr>
        <p:spPr>
          <a:xfrm>
            <a:off x="10008000" y="3852000"/>
            <a:ext cx="360000" cy="3600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B4B4B4"/>
                </a:solidFill>
              </a:defRPr>
            </a:pPr>
            <a:r>
              <a:t>Note: All elements are 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